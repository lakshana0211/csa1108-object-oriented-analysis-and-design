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Explain this slide in simple words and connect it to a Student Management System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Explain this slide in simple words and connect it to a Student Management System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Explain this slide in simple words and connect it to a Student Management System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Explain this slide in simple words and connect it to a Student Management System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Explain this slide in simple words and connect it to a Student Management System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Explain this slide in simple words and connect it to a Student Management System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Explain this slide in simple words and connect it to a Student Management System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Explain this slide in simple words and connect it to a Student Management System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7680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SDLC Phases in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Object-Oriented Development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2697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DF7F7"/>
                </a:solidFill>
              </a:rPr>
              <a:t>OOAD Technical Presentation • CSA11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9409176" y="2249424"/>
            <a:ext cx="658368" cy="65836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18747" y="2880360"/>
            <a:ext cx="658368" cy="658368"/>
          </a:xfrm>
          <a:prstGeom prst="ellipse">
            <a:avLst/>
          </a:prstGeom>
          <a:solidFill>
            <a:srgbClr val="4D96FF"/>
          </a:solidFill>
          <a:ln w="12700">
            <a:solidFill>
              <a:srgbClr val="4D96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18747" y="4142232"/>
            <a:ext cx="658368" cy="658368"/>
          </a:xfrm>
          <a:prstGeom prst="ellipse">
            <a:avLst/>
          </a:prstGeom>
          <a:solidFill>
            <a:srgbClr val="2FB344"/>
          </a:solidFill>
          <a:ln w="12700">
            <a:solidFill>
              <a:srgbClr val="2FB34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09176" y="4773168"/>
            <a:ext cx="658368" cy="658368"/>
          </a:xfrm>
          <a:prstGeom prst="ellipse">
            <a:avLst/>
          </a:prstGeom>
          <a:solidFill>
            <a:srgbClr val="F59F00"/>
          </a:solidFill>
          <a:ln w="12700">
            <a:solidFill>
              <a:srgbClr val="F59F0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99605" y="4142232"/>
            <a:ext cx="658368" cy="658368"/>
          </a:xfrm>
          <a:prstGeom prst="ellipse">
            <a:avLst/>
          </a:prstGeom>
          <a:solidFill>
            <a:srgbClr val="845EF7"/>
          </a:solidFill>
          <a:ln w="12700">
            <a:solidFill>
              <a:srgbClr val="845EF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99605" y="2880360"/>
            <a:ext cx="658368" cy="658368"/>
          </a:xfrm>
          <a:prstGeom prst="ellipse">
            <a:avLst/>
          </a:prstGeom>
          <a:solidFill>
            <a:srgbClr val="FA5252"/>
          </a:solidFill>
          <a:ln w="12700">
            <a:solidFill>
              <a:srgbClr val="FA525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32520" y="303580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SDLC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77240" y="54406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AFA"/>
                </a:solidFill>
              </a:rPr>
              <a:t>Build software step by step, using objects, classes and UML.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SDLC in OOAD?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95057"/>
                </a:solidFill>
              </a:rPr>
              <a:t>A planned path from idea to working software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0881360" cy="0"/>
          </a:xfrm>
          <a:prstGeom prst="line">
            <a:avLst/>
          </a:prstGeom>
          <a:noFill/>
          <a:ln w="15240">
            <a:solidFill>
              <a:srgbClr val="D5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621792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50" dirty="0">
                <a:solidFill>
                  <a:srgbClr val="111827"/>
                </a:solidFill>
              </a:rPr>
              <a:t>SDLC means Software Development Life Cycle.</a:t>
            </a:r>
            <a:endParaRPr lang="en-US" sz="1850" dirty="0"/>
          </a:p>
          <a:p>
            <a:pPr marL="203200" indent="-203200">
              <a:buSzPct val="100000"/>
              <a:buChar char="•"/>
            </a:pPr>
            <a:r>
              <a:rPr lang="en-US" sz="1850" dirty="0">
                <a:solidFill>
                  <a:srgbClr val="111827"/>
                </a:solidFill>
              </a:rPr>
              <a:t>OOAD uses objects, classes and relationships in each phase.</a:t>
            </a:r>
            <a:endParaRPr lang="en-US" sz="1850" dirty="0"/>
          </a:p>
          <a:p>
            <a:pPr marL="203200" indent="-203200">
              <a:buSzPct val="100000"/>
              <a:buChar char="•"/>
            </a:pPr>
            <a:r>
              <a:rPr lang="en-US" sz="1850" dirty="0">
                <a:solidFill>
                  <a:srgbClr val="111827"/>
                </a:solidFill>
              </a:rPr>
              <a:t>It helps create structured, modular and maintainable systems.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49808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6A6"/>
                </a:solidFill>
              </a:rPr>
              <a:t>Main flow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891272" y="2542032"/>
            <a:ext cx="0" cy="256032"/>
          </a:xfrm>
          <a:prstGeom prst="line">
            <a:avLst/>
          </a:prstGeom>
          <a:noFill/>
          <a:ln w="25400">
            <a:solidFill>
              <a:srgbClr val="AACBD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891272" y="3136392"/>
            <a:ext cx="0" cy="256032"/>
          </a:xfrm>
          <a:prstGeom prst="line">
            <a:avLst/>
          </a:prstGeom>
          <a:noFill/>
          <a:ln w="25400">
            <a:solidFill>
              <a:srgbClr val="AACBD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891272" y="3730752"/>
            <a:ext cx="0" cy="256032"/>
          </a:xfrm>
          <a:prstGeom prst="line">
            <a:avLst/>
          </a:prstGeom>
          <a:noFill/>
          <a:ln w="25400">
            <a:solidFill>
              <a:srgbClr val="AACBD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891272" y="4325112"/>
            <a:ext cx="0" cy="256032"/>
          </a:xfrm>
          <a:prstGeom prst="line">
            <a:avLst/>
          </a:prstGeom>
          <a:noFill/>
          <a:ln w="25400">
            <a:solidFill>
              <a:srgbClr val="AACBD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891272" y="4919472"/>
            <a:ext cx="0" cy="256032"/>
          </a:xfrm>
          <a:prstGeom prst="line">
            <a:avLst/>
          </a:prstGeom>
          <a:noFill/>
          <a:ln w="25400">
            <a:solidFill>
              <a:srgbClr val="AACBD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60920" y="2148840"/>
            <a:ext cx="2468880" cy="438912"/>
          </a:xfrm>
          <a:prstGeom prst="roundRect">
            <a:avLst>
              <a:gd name="adj" fmla="val 20833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226771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Requirement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60920" y="2743200"/>
            <a:ext cx="2468880" cy="438912"/>
          </a:xfrm>
          <a:prstGeom prst="roundRect">
            <a:avLst>
              <a:gd name="adj" fmla="val 20833"/>
            </a:avLst>
          </a:prstGeom>
          <a:solidFill>
            <a:srgbClr val="4D96FF"/>
          </a:solidFill>
          <a:ln w="12700">
            <a:solidFill>
              <a:srgbClr val="4D96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286207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Design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60920" y="3337560"/>
            <a:ext cx="2468880" cy="438912"/>
          </a:xfrm>
          <a:prstGeom prst="roundRect">
            <a:avLst>
              <a:gd name="adj" fmla="val 20833"/>
            </a:avLst>
          </a:prstGeom>
          <a:solidFill>
            <a:srgbClr val="2FB344"/>
          </a:solidFill>
          <a:ln w="12700">
            <a:solidFill>
              <a:srgbClr val="2FB34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345643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Coding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60920" y="3931920"/>
            <a:ext cx="2468880" cy="438912"/>
          </a:xfrm>
          <a:prstGeom prst="roundRect">
            <a:avLst>
              <a:gd name="adj" fmla="val 20833"/>
            </a:avLst>
          </a:prstGeom>
          <a:solidFill>
            <a:srgbClr val="F59F00"/>
          </a:solidFill>
          <a:ln w="12700">
            <a:solidFill>
              <a:srgbClr val="F59F0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405079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Testing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60920" y="4526280"/>
            <a:ext cx="2468880" cy="438912"/>
          </a:xfrm>
          <a:prstGeom prst="roundRect">
            <a:avLst>
              <a:gd name="adj" fmla="val 20833"/>
            </a:avLst>
          </a:prstGeom>
          <a:solidFill>
            <a:srgbClr val="845EF7"/>
          </a:solidFill>
          <a:ln w="12700">
            <a:solidFill>
              <a:srgbClr val="845EF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4515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Deploy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60920" y="5120640"/>
            <a:ext cx="2468880" cy="438912"/>
          </a:xfrm>
          <a:prstGeom prst="roundRect">
            <a:avLst>
              <a:gd name="adj" fmla="val 20833"/>
            </a:avLst>
          </a:prstGeom>
          <a:solidFill>
            <a:srgbClr val="FA5252"/>
          </a:solidFill>
          <a:ln w="12700">
            <a:solidFill>
              <a:srgbClr val="FA525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60920" y="523951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Maintain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4360" y="46177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6A6"/>
                </a:solidFill>
              </a:rPr>
              <a:t>Example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" y="4919472"/>
            <a:ext cx="6080760" cy="530352"/>
          </a:xfrm>
          <a:prstGeom prst="roundRect">
            <a:avLst>
              <a:gd name="adj" fmla="val 18966"/>
            </a:avLst>
          </a:prstGeom>
          <a:solidFill>
            <a:srgbClr val="EFF7F8"/>
          </a:solidFill>
          <a:ln w="10160">
            <a:solidFill>
              <a:srgbClr val="C6DD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5056632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95057"/>
                </a:solidFill>
              </a:rPr>
              <a:t>For a Student Management System, we identify Student, Course, Attendance and Grade objects.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1600200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447288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294376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141464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988552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94360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Req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441448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41448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Design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288536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88536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Code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35624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35624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Test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982712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82712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Deploy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829800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29800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Maintain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1: Requirement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95057"/>
                </a:solidFill>
              </a:rPr>
              <a:t>Understand what the system must do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0881360" cy="0"/>
          </a:xfrm>
          <a:prstGeom prst="line">
            <a:avLst/>
          </a:prstGeom>
          <a:noFill/>
          <a:ln w="15240">
            <a:solidFill>
              <a:srgbClr val="D5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653796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50" dirty="0">
                <a:solidFill>
                  <a:srgbClr val="111827"/>
                </a:solidFill>
              </a:rPr>
              <a:t>Collect user needs from students, staff and administrators.</a:t>
            </a:r>
            <a:endParaRPr lang="en-US" sz="1850" dirty="0"/>
          </a:p>
          <a:p>
            <a:pPr marL="203200" indent="-203200">
              <a:buSzPct val="100000"/>
              <a:buChar char="•"/>
            </a:pPr>
            <a:r>
              <a:rPr lang="en-US" sz="1850" dirty="0">
                <a:solidFill>
                  <a:srgbClr val="111827"/>
                </a:solidFill>
              </a:rPr>
              <a:t>Identify actors, use cases and real-world objects.</a:t>
            </a:r>
            <a:endParaRPr lang="en-US" sz="1850" dirty="0"/>
          </a:p>
          <a:p>
            <a:pPr marL="203200" indent="-203200">
              <a:buSzPct val="100000"/>
              <a:buChar char="•"/>
            </a:pPr>
            <a:r>
              <a:rPr lang="en-US" sz="1850" dirty="0">
                <a:solidFill>
                  <a:srgbClr val="111827"/>
                </a:solidFill>
              </a:rPr>
              <a:t>Prepare requirement list and basic use case diagram.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9738360" y="1572768"/>
            <a:ext cx="1508760" cy="150876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38360" y="171907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869680" y="3246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6A6"/>
                </a:solidFill>
              </a:rPr>
              <a:t>Requirement Analysis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46177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6A6"/>
                </a:solidFill>
              </a:rPr>
              <a:t>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4919472"/>
            <a:ext cx="6080760" cy="530352"/>
          </a:xfrm>
          <a:prstGeom prst="roundRect">
            <a:avLst>
              <a:gd name="adj" fmla="val 18966"/>
            </a:avLst>
          </a:prstGeom>
          <a:solidFill>
            <a:srgbClr val="EFF7F8"/>
          </a:solidFill>
          <a:ln w="10160">
            <a:solidFill>
              <a:srgbClr val="C6DD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5056632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95057"/>
                </a:solidFill>
              </a:rPr>
              <a:t>Use cases like Login, Add Student, Mark Attendance, View Result.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600200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47288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94376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41464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88552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4360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Req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41448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41448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Design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88536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88536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Code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35624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35624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Test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82712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82712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Deploy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829800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29800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Maintain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2: Object-Oriented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95057"/>
                </a:solidFill>
              </a:rPr>
              <a:t>Convert requirements into classes and diagrams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0881360" cy="0"/>
          </a:xfrm>
          <a:prstGeom prst="line">
            <a:avLst/>
          </a:prstGeom>
          <a:noFill/>
          <a:ln w="15240">
            <a:solidFill>
              <a:srgbClr val="D5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66751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50" dirty="0">
                <a:solidFill>
                  <a:srgbClr val="111827"/>
                </a:solidFill>
              </a:rPr>
              <a:t>Create class diagram with attributes, methods and relationships.</a:t>
            </a:r>
            <a:endParaRPr lang="en-US" sz="1850" dirty="0"/>
          </a:p>
          <a:p>
            <a:pPr marL="203200" indent="-203200">
              <a:buSzPct val="100000"/>
              <a:buChar char="•"/>
            </a:pPr>
            <a:r>
              <a:rPr lang="en-US" sz="1850" dirty="0">
                <a:solidFill>
                  <a:srgbClr val="111827"/>
                </a:solidFill>
              </a:rPr>
              <a:t>Design object interactions using sequence or activity diagrams.</a:t>
            </a:r>
            <a:endParaRPr lang="en-US" sz="1850" dirty="0"/>
          </a:p>
          <a:p>
            <a:pPr marL="203200" indent="-203200">
              <a:buSzPct val="100000"/>
              <a:buChar char="•"/>
            </a:pPr>
            <a:r>
              <a:rPr lang="en-US" sz="1850" dirty="0">
                <a:solidFill>
                  <a:srgbClr val="111827"/>
                </a:solidFill>
              </a:rPr>
              <a:t>Apply OO principles: abstraction, encapsulation and modularity.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9738360" y="1572768"/>
            <a:ext cx="1508760" cy="1508760"/>
          </a:xfrm>
          <a:prstGeom prst="ellipse">
            <a:avLst/>
          </a:prstGeom>
          <a:solidFill>
            <a:srgbClr val="4D96FF"/>
          </a:solidFill>
          <a:ln w="12700">
            <a:solidFill>
              <a:srgbClr val="4D96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38360" y="171907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869680" y="3246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96FF"/>
                </a:solidFill>
              </a:rPr>
              <a:t>OO Design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46177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96FF"/>
                </a:solidFill>
              </a:rPr>
              <a:t>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4919472"/>
            <a:ext cx="6080760" cy="530352"/>
          </a:xfrm>
          <a:prstGeom prst="roundRect">
            <a:avLst>
              <a:gd name="adj" fmla="val 18966"/>
            </a:avLst>
          </a:prstGeom>
          <a:solidFill>
            <a:srgbClr val="EFF7F8"/>
          </a:solidFill>
          <a:ln w="10160">
            <a:solidFill>
              <a:srgbClr val="C6DD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5056632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95057"/>
                </a:solidFill>
              </a:rPr>
              <a:t>Classes: Student, Faculty, Course, Attendance, Result, Admin.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600200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47288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94376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41464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88552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4360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Req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41448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41448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Design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88536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88536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Code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35624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35624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Test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82712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82712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Deploy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829800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29800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Maintain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3: Coding / Implementation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95057"/>
                </a:solidFill>
              </a:rPr>
              <a:t>Convert the design into a working program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0881360" cy="0"/>
          </a:xfrm>
          <a:prstGeom prst="line">
            <a:avLst/>
          </a:prstGeom>
          <a:noFill/>
          <a:ln w="15240">
            <a:solidFill>
              <a:srgbClr val="D5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649224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50" dirty="0">
                <a:solidFill>
                  <a:srgbClr val="111827"/>
                </a:solidFill>
              </a:rPr>
              <a:t>Develop classes based on the class diagram.</a:t>
            </a:r>
            <a:endParaRPr lang="en-US" sz="1850" dirty="0"/>
          </a:p>
          <a:p>
            <a:pPr marL="203200" indent="-203200">
              <a:buSzPct val="100000"/>
              <a:buChar char="•"/>
            </a:pPr>
            <a:r>
              <a:rPr lang="en-US" sz="1850" dirty="0">
                <a:solidFill>
                  <a:srgbClr val="111827"/>
                </a:solidFill>
              </a:rPr>
              <a:t>Use methods to implement system behaviour.</a:t>
            </a:r>
            <a:endParaRPr lang="en-US" sz="1850" dirty="0"/>
          </a:p>
          <a:p>
            <a:pPr marL="203200" indent="-203200">
              <a:buSzPct val="100000"/>
              <a:buChar char="•"/>
            </a:pPr>
            <a:r>
              <a:rPr lang="en-US" sz="1850" dirty="0">
                <a:solidFill>
                  <a:srgbClr val="111827"/>
                </a:solidFill>
              </a:rPr>
              <a:t>Connect the program with database and user interface.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9738360" y="1572768"/>
            <a:ext cx="1508760" cy="1508760"/>
          </a:xfrm>
          <a:prstGeom prst="ellipse">
            <a:avLst/>
          </a:prstGeom>
          <a:solidFill>
            <a:srgbClr val="2FB344"/>
          </a:solidFill>
          <a:ln w="12700">
            <a:solidFill>
              <a:srgbClr val="2FB34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38360" y="171907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869680" y="3246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B344"/>
                </a:solidFill>
              </a:rPr>
              <a:t>Coding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46177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344"/>
                </a:solidFill>
              </a:rPr>
              <a:t>Example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4919472"/>
            <a:ext cx="6080760" cy="530352"/>
          </a:xfrm>
          <a:prstGeom prst="roundRect">
            <a:avLst>
              <a:gd name="adj" fmla="val 18966"/>
            </a:avLst>
          </a:prstGeom>
          <a:solidFill>
            <a:srgbClr val="EFF7F8"/>
          </a:solidFill>
          <a:ln w="10160">
            <a:solidFill>
              <a:srgbClr val="C6DD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5056632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95057"/>
                </a:solidFill>
              </a:rPr>
              <a:t>Student.addDetails(), Attendance.markAttendance(), Result.calculateGrade().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600200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47288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94376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41464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88552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4360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Req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41448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41448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Design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88536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88536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Code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35624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35624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Test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82712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82712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Deploy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829800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29800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Maintain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4: Testing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95057"/>
                </a:solidFill>
              </a:rPr>
              <a:t>Check whether every module works correctly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0881360" cy="0"/>
          </a:xfrm>
          <a:prstGeom prst="line">
            <a:avLst/>
          </a:prstGeom>
          <a:noFill/>
          <a:ln w="15240">
            <a:solidFill>
              <a:srgbClr val="D5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649224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50" dirty="0">
                <a:solidFill>
                  <a:srgbClr val="111827"/>
                </a:solidFill>
              </a:rPr>
              <a:t>Unit testing checks individual classes and methods.</a:t>
            </a:r>
            <a:endParaRPr lang="en-US" sz="1850" dirty="0"/>
          </a:p>
          <a:p>
            <a:pPr marL="203200" indent="-203200">
              <a:buSzPct val="100000"/>
              <a:buChar char="•"/>
            </a:pPr>
            <a:r>
              <a:rPr lang="en-US" sz="1850" dirty="0">
                <a:solidFill>
                  <a:srgbClr val="111827"/>
                </a:solidFill>
              </a:rPr>
              <a:t>Integration testing checks communication between objects.</a:t>
            </a:r>
            <a:endParaRPr lang="en-US" sz="1850" dirty="0"/>
          </a:p>
          <a:p>
            <a:pPr marL="203200" indent="-203200">
              <a:buSzPct val="100000"/>
              <a:buChar char="•"/>
            </a:pPr>
            <a:r>
              <a:rPr lang="en-US" sz="1850" dirty="0">
                <a:solidFill>
                  <a:srgbClr val="111827"/>
                </a:solidFill>
              </a:rPr>
              <a:t>System testing verifies the complete application.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9738360" y="1572768"/>
            <a:ext cx="1508760" cy="1508760"/>
          </a:xfrm>
          <a:prstGeom prst="ellipse">
            <a:avLst/>
          </a:prstGeom>
          <a:solidFill>
            <a:srgbClr val="F59F00"/>
          </a:solidFill>
          <a:ln w="12700">
            <a:solidFill>
              <a:srgbClr val="F59F0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38360" y="171907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4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869680" y="3246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F00"/>
                </a:solidFill>
              </a:rPr>
              <a:t>Testing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46177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F00"/>
                </a:solidFill>
              </a:rPr>
              <a:t>Example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4919472"/>
            <a:ext cx="6080760" cy="530352"/>
          </a:xfrm>
          <a:prstGeom prst="roundRect">
            <a:avLst>
              <a:gd name="adj" fmla="val 18966"/>
            </a:avLst>
          </a:prstGeom>
          <a:solidFill>
            <a:srgbClr val="EFF7F8"/>
          </a:solidFill>
          <a:ln w="10160">
            <a:solidFill>
              <a:srgbClr val="C6DD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5056632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95057"/>
                </a:solidFill>
              </a:rPr>
              <a:t>Check whether attendance updates correctly after a faculty member submits it.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600200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47288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94376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41464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88552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4360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Req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41448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41448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Design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88536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88536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Code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35624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35624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Test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82712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82712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Deploy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829800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29800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Maintain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5: Deployment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95057"/>
                </a:solidFill>
              </a:rPr>
              <a:t>Release the system to real users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0881360" cy="0"/>
          </a:xfrm>
          <a:prstGeom prst="line">
            <a:avLst/>
          </a:prstGeom>
          <a:noFill/>
          <a:ln w="15240">
            <a:solidFill>
              <a:srgbClr val="D5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649224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50" dirty="0">
                <a:solidFill>
                  <a:srgbClr val="111827"/>
                </a:solidFill>
              </a:rPr>
              <a:t>Install or publish the application for students and staff.</a:t>
            </a:r>
            <a:endParaRPr lang="en-US" sz="1850" dirty="0"/>
          </a:p>
          <a:p>
            <a:pPr marL="203200" indent="-203200">
              <a:buSzPct val="100000"/>
              <a:buChar char="•"/>
            </a:pPr>
            <a:r>
              <a:rPr lang="en-US" sz="1850" dirty="0">
                <a:solidFill>
                  <a:srgbClr val="111827"/>
                </a:solidFill>
              </a:rPr>
              <a:t>Move database and files to the final server or system.</a:t>
            </a:r>
            <a:endParaRPr lang="en-US" sz="1850" dirty="0"/>
          </a:p>
          <a:p>
            <a:pPr marL="203200" indent="-203200">
              <a:buSzPct val="100000"/>
              <a:buChar char="•"/>
            </a:pPr>
            <a:r>
              <a:rPr lang="en-US" sz="1850" dirty="0">
                <a:solidFill>
                  <a:srgbClr val="111827"/>
                </a:solidFill>
              </a:rPr>
              <a:t>Train users and check basic working after release.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9738360" y="1572768"/>
            <a:ext cx="1508760" cy="1508760"/>
          </a:xfrm>
          <a:prstGeom prst="ellipse">
            <a:avLst/>
          </a:prstGeom>
          <a:solidFill>
            <a:srgbClr val="845EF7"/>
          </a:solidFill>
          <a:ln w="12700">
            <a:solidFill>
              <a:srgbClr val="845EF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38360" y="171907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869680" y="3246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45EF7"/>
                </a:solidFill>
              </a:rPr>
              <a:t>Deployment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46177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45EF7"/>
                </a:solidFill>
              </a:rPr>
              <a:t>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4919472"/>
            <a:ext cx="6080760" cy="530352"/>
          </a:xfrm>
          <a:prstGeom prst="roundRect">
            <a:avLst>
              <a:gd name="adj" fmla="val 18966"/>
            </a:avLst>
          </a:prstGeom>
          <a:solidFill>
            <a:srgbClr val="EFF7F8"/>
          </a:solidFill>
          <a:ln w="10160">
            <a:solidFill>
              <a:srgbClr val="C6DD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5056632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95057"/>
                </a:solidFill>
              </a:rPr>
              <a:t>Users can log in, mark attendance and view results in the live system.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600200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47288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94376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41464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88552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4360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Req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41448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41448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Design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88536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88536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Code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35624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35624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Test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82712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82712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Deploy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829800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29800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Maintain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6: Maintenance &amp; 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95057"/>
                </a:solidFill>
              </a:rPr>
              <a:t>Improve the system after deployment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0881360" cy="0"/>
          </a:xfrm>
          <a:prstGeom prst="line">
            <a:avLst/>
          </a:prstGeom>
          <a:noFill/>
          <a:ln w="15240">
            <a:solidFill>
              <a:srgbClr val="D5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6492240" cy="2240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50" dirty="0">
                <a:solidFill>
                  <a:srgbClr val="111827"/>
                </a:solidFill>
              </a:rPr>
              <a:t>Fix errors found after users start using the system.</a:t>
            </a:r>
            <a:endParaRPr lang="en-US" sz="1850" dirty="0"/>
          </a:p>
          <a:p>
            <a:pPr marL="203200" indent="-203200">
              <a:buSzPct val="100000"/>
              <a:buChar char="•"/>
            </a:pPr>
            <a:r>
              <a:rPr lang="en-US" sz="1850" dirty="0">
                <a:solidFill>
                  <a:srgbClr val="111827"/>
                </a:solidFill>
              </a:rPr>
              <a:t>Add new features like reports, notifications or mobile access.</a:t>
            </a:r>
            <a:endParaRPr lang="en-US" sz="1850" dirty="0"/>
          </a:p>
          <a:p>
            <a:pPr marL="203200" indent="-203200">
              <a:buSzPct val="100000"/>
              <a:buChar char="•"/>
            </a:pPr>
            <a:r>
              <a:rPr lang="en-US" sz="1850" dirty="0">
                <a:solidFill>
                  <a:srgbClr val="111827"/>
                </a:solidFill>
              </a:rPr>
              <a:t>OOAD makes maintenance easier because changes are made module by module.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9738360" y="1572768"/>
            <a:ext cx="1508760" cy="1508760"/>
          </a:xfrm>
          <a:prstGeom prst="ellipse">
            <a:avLst/>
          </a:prstGeom>
          <a:solidFill>
            <a:srgbClr val="FA5252"/>
          </a:solidFill>
          <a:ln w="12700">
            <a:solidFill>
              <a:srgbClr val="FA525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38360" y="171907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6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869680" y="3246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5252"/>
                </a:solidFill>
              </a:rPr>
              <a:t>Maintenance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A3A"/>
                </a:solidFill>
              </a:rPr>
              <a:t>Conclusion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437083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SDLC gives a clear step-by-step process, and OOAD makes the software structured, reusable, scalable and easy to maintain.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600200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47288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94376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141464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988552" y="6199632"/>
            <a:ext cx="713232" cy="0"/>
          </a:xfrm>
          <a:prstGeom prst="line">
            <a:avLst/>
          </a:prstGeom>
          <a:noFill/>
          <a:ln w="25400">
            <a:solidFill>
              <a:srgbClr val="B7CDD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94360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Req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41448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41448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Design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88536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88536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Code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35624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35624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Test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82712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D9E7EA"/>
          </a:solidFill>
          <a:ln w="12700">
            <a:solidFill>
              <a:srgbClr val="D9E7E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82712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5057"/>
                </a:solidFill>
              </a:rPr>
              <a:t>Deploy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829800" y="5925312"/>
            <a:ext cx="1115568" cy="502920"/>
          </a:xfrm>
          <a:prstGeom prst="roundRect">
            <a:avLst>
              <a:gd name="adj" fmla="val 21818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29800" y="6071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Maintain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SIMATS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SDLC Phases in Object-Oriented Development</dc:title>
  <dc:subject>OOAD Technical Presentation</dc:subject>
  <dc:creator>OpenAI</dc:creator>
  <cp:lastModifiedBy>OpenAI</cp:lastModifiedBy>
  <cp:revision>1</cp:revision>
  <dcterms:created xsi:type="dcterms:W3CDTF">2026-07-16T04:14:42Z</dcterms:created>
  <dcterms:modified xsi:type="dcterms:W3CDTF">2026-07-16T04:14:42Z</dcterms:modified>
</cp:coreProperties>
</file>